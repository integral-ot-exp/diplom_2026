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9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</p:sldIdLst>
  <p:sldSz cx="9144000" cy="5143500" type="screen16x9"/>
  <p:notesSz cx="6858000" cy="9144000"/>
  <p:defaultTextStyle>
    <a:defPPr>
      <a:defRPr lang="en-US"/>
    </a:defPPr>
    <a:lvl1pPr marL="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946" y="-235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7D7AB4-4A43-46F4-A7FC-6171EB4BF005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105D3B-A9B2-463B-B1C2-D2E22EE7907E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B996-EBC6-4482-81E4-0AAE73940B74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72C1A-5886-4C2D-92C5-483BF3D786AD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04728-630F-4D71-B044-211B549082D7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4F268-C422-45A6-9600-0F8D70D808BA}" type="datetime1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8725A-271E-4D5A-A859-27C05D6C0200}" type="datetime1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8E90B-6A24-4594-8927-E4FF55F26476}" type="datetime1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3B1E7-899F-4C8B-956C-B5DB593DE659}" type="datetime1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9C811-41B1-4EA5-BF77-68D869C00835}" type="datetime1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BD7EB-0745-47D8-BE59-02D92764FF2D}" type="datetime1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F14E4-1533-485A-AAF3-8D8176B18AB9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 smtClean="0"/>
              <a:t>Click to add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35334-3BA5-4CE1-962C-A151675F0045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778742-5338-42D0-BF12-07693AC36925}" type="datetime1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latinLnBrk="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latinLnBrk="0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latinLnBrk="0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latinLnBrk="0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latinLnBrk="0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latinLnBrk="0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latinLnBrk="0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latinLnBrk="0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latinLnBrk="0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latinLnBrk="0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latinLnBrk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latinLnBrk="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latinLnBrk="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latinLnBrk="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latinLnBrk="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latinLnBrk="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latinLnBrk="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latinLnBrk="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latinLnBrk="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15DDC01C-B001-6673-0C5C-13278F22739D}"/>
              </a:ext>
            </a:extLst>
          </p:cNvPr>
          <p:cNvSpPr txBox="1"/>
          <p:nvPr/>
        </p:nvSpPr>
        <p:spPr>
          <a:xfrm>
            <a:off x="2286000" y="133525"/>
            <a:ext cx="4572000" cy="1977464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МИНОБРНАУКИ РОССИИ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автономное образовательное учреждение высшего образования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«Южный федеральный университет»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Физический факультет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прикладной электродинамики и компьютерного моделирования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ru-RU" dirty="0"/>
          </a:p>
        </p:txBody>
      </p:sp>
      <p:sp>
        <p:nvSpPr>
          <p:cNvPr id="6" name="Подзаголовок 2">
            <a:extLst>
              <a:ext uri="{FF2B5EF4-FFF2-40B4-BE49-F238E27FC236}">
                <a16:creationId xmlns="" xmlns:a16="http://schemas.microsoft.com/office/drawing/2014/main" id="{BCADD4A3-953B-218C-D041-2ADACEFBC7B5}"/>
              </a:ext>
            </a:extLst>
          </p:cNvPr>
          <p:cNvSpPr txBox="1">
            <a:spLocks/>
          </p:cNvSpPr>
          <p:nvPr/>
        </p:nvSpPr>
        <p:spPr>
          <a:xfrm>
            <a:off x="3782961" y="3235207"/>
            <a:ext cx="5198807" cy="124182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4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курса бакалавриата </a:t>
            </a:r>
          </a:p>
          <a:p>
            <a:pPr algn="r"/>
            <a:r>
              <a:rPr lang="ru-RU" sz="1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Татаров</a:t>
            </a:r>
            <a:r>
              <a:rPr lang="ru-RU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Д. С.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ru-RU" sz="1200" dirty="0" smtClean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 от профильной организации</a:t>
            </a:r>
            <a:endParaRPr lang="en-US" sz="1200" dirty="0" smtClean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ru-RU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Старший научный сотрудник </a:t>
            </a:r>
            <a:r>
              <a:rPr lang="ru-RU" sz="1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Хачкинаев</a:t>
            </a:r>
            <a:r>
              <a:rPr lang="ru-RU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О. В. 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="" xmlns:a16="http://schemas.microsoft.com/office/drawing/2014/main" id="{14590EFD-E088-0228-3064-767C72979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079" y="169629"/>
            <a:ext cx="1472312" cy="134428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="" xmlns:a16="http://schemas.microsoft.com/office/drawing/2014/main" id="{4B792C90-B297-44D9-4E7C-6225A758F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10" y="238216"/>
            <a:ext cx="1207112" cy="12071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9CE3B7DD-8A73-1FC4-D0D2-CCA5DEB2F3DB}"/>
              </a:ext>
            </a:extLst>
          </p:cNvPr>
          <p:cNvSpPr txBox="1"/>
          <p:nvPr/>
        </p:nvSpPr>
        <p:spPr>
          <a:xfrm>
            <a:off x="1820003" y="2070824"/>
            <a:ext cx="6053063" cy="715581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ru-RU" sz="21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Гитарная радиосистема</a:t>
            </a:r>
            <a:endParaRPr lang="ru-RU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</a:t>
            </a:r>
            <a:endParaRPr lang="ru-RU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491E8A82-8633-1639-4930-EC2418172FC0}"/>
              </a:ext>
            </a:extLst>
          </p:cNvPr>
          <p:cNvSpPr txBox="1"/>
          <p:nvPr/>
        </p:nvSpPr>
        <p:spPr>
          <a:xfrm>
            <a:off x="2286000" y="4659055"/>
            <a:ext cx="4572000" cy="438582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ru-RU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Ростов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-на-Дону </a:t>
            </a:r>
          </a:p>
          <a:p>
            <a:pPr algn="ctr"/>
            <a:r>
              <a:rPr lang="ru-RU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2026 г.</a:t>
            </a: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0" y="3257550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>
              <a:defRPr/>
            </a:pPr>
            <a:r>
              <a:rPr lang="ru-RU" sz="1200" dirty="0" smtClean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 от структурного подразделения ЮФУ </a:t>
            </a:r>
            <a:endParaRPr lang="en-US" sz="1200" dirty="0" smtClean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defRPr/>
            </a:pPr>
            <a:r>
              <a:rPr lang="ru-RU" sz="1200" dirty="0" smtClean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профессор, </a:t>
            </a:r>
            <a:r>
              <a:rPr lang="ru-RU" sz="1200" dirty="0" err="1" smtClean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д.ф.-м.н</a:t>
            </a:r>
            <a:r>
              <a:rPr lang="ru-RU" sz="1200" dirty="0" smtClean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sz="1200" dirty="0" smtClean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defRPr/>
            </a:pPr>
            <a:r>
              <a:rPr lang="ru-RU" sz="1200" dirty="0" err="1" smtClean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Мануилов</a:t>
            </a:r>
            <a:r>
              <a:rPr lang="ru-RU" sz="1200" dirty="0" smtClean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Михаил Борисович</a:t>
            </a:r>
            <a:endParaRPr lang="ru-RU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6313864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Актуальность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 smtClean="0"/>
              <a:t>В современной индустрии профессионального звукового оборудования наблюдается устойчивая тенденция к отказу от кабельных соединений в пользу беспроводных радиосистем. Это обусловлено потребностью музыкантов в свободе передвижения на сцене и упрощением коммутации оборудования. Однако обеспечение надежной, высококачественной и с </a:t>
            </a:r>
            <a:r>
              <a:rPr lang="ru-RU" smtClean="0"/>
              <a:t>низкой задержкой </a:t>
            </a:r>
            <a:r>
              <a:rPr lang="ru-RU" dirty="0" smtClean="0"/>
              <a:t>передачи </a:t>
            </a:r>
            <a:r>
              <a:rPr lang="ru-RU" dirty="0" err="1" smtClean="0"/>
              <a:t>аудиосигнала</a:t>
            </a:r>
            <a:r>
              <a:rPr lang="ru-RU" dirty="0" smtClean="0"/>
              <a:t> в условиях реальной эксплуатации сопряжено с рядом сложных радиофизических и радиотехнических проблем.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Цель и задачи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sz="2000" b="1" dirty="0" smtClean="0"/>
              <a:t>Цель</a:t>
            </a:r>
            <a:r>
              <a:rPr lang="ru-RU" sz="2000" dirty="0" smtClean="0"/>
              <a:t> – реализовать модель цифровой приёмо-передающей радио системы для передачи аудио-сигнала.</a:t>
            </a:r>
          </a:p>
          <a:p>
            <a:pPr>
              <a:buNone/>
            </a:pPr>
            <a:r>
              <a:rPr lang="ru-RU" sz="2000" dirty="0" smtClean="0"/>
              <a:t>	Задачи: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 smtClean="0"/>
              <a:t>Изучить методы модуляции аналоговых и цифровых сигналов.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 smtClean="0"/>
              <a:t>Спроектировать схему приёмного и передающего устройств и сделать их печатные платы.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 smtClean="0"/>
              <a:t>Написать программный код с реализацией передачи сигнала через модуль </a:t>
            </a:r>
            <a:r>
              <a:rPr lang="en-US" sz="2000" dirty="0" smtClean="0"/>
              <a:t>nRF24L01.</a:t>
            </a:r>
            <a:endParaRPr lang="ru-RU" sz="2000" dirty="0" smtClean="0"/>
          </a:p>
          <a:p>
            <a:pPr marL="514350" indent="-514350"/>
            <a:r>
              <a:rPr lang="ru-RU" sz="2000" dirty="0" smtClean="0"/>
              <a:t>Объекты работы: микроконтроллер </a:t>
            </a:r>
            <a:r>
              <a:rPr lang="en-US" sz="2000" dirty="0" smtClean="0"/>
              <a:t>STM32F103C8T6 </a:t>
            </a:r>
            <a:r>
              <a:rPr lang="ru-RU" sz="2000" dirty="0" smtClean="0"/>
              <a:t>на базе отладочной платы </a:t>
            </a:r>
            <a:r>
              <a:rPr lang="en-US" sz="2000" dirty="0" smtClean="0"/>
              <a:t>Blue Pill, </a:t>
            </a:r>
            <a:r>
              <a:rPr lang="ru-RU" sz="2000" dirty="0" smtClean="0"/>
              <a:t>радио</a:t>
            </a:r>
            <a:r>
              <a:rPr lang="en-US" sz="2000" dirty="0" smtClean="0"/>
              <a:t> </a:t>
            </a:r>
            <a:r>
              <a:rPr lang="ru-RU" sz="2000" dirty="0" smtClean="0"/>
              <a:t>модуль </a:t>
            </a:r>
            <a:r>
              <a:rPr lang="en-US" sz="2000" dirty="0" smtClean="0"/>
              <a:t>nRF24L01</a:t>
            </a:r>
            <a:r>
              <a:rPr lang="ru-RU" sz="2000" dirty="0" smtClean="0"/>
              <a:t>.</a:t>
            </a:r>
          </a:p>
          <a:p>
            <a:pPr marL="514350" indent="-514350"/>
            <a:r>
              <a:rPr lang="ru-RU" sz="2000" dirty="0" smtClean="0"/>
              <a:t>Предмет работы: изучение передачи и приёма цифрового сигнала с частотной модуляцией </a:t>
            </a:r>
            <a:r>
              <a:rPr lang="en-US" sz="2000" dirty="0" smtClean="0"/>
              <a:t>GFSK.</a:t>
            </a:r>
            <a:endParaRPr lang="ru-RU" sz="2000" dirty="0" smtClean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GFSK</a:t>
            </a:r>
            <a:r>
              <a:rPr lang="ru-RU" dirty="0" smtClean="0"/>
              <a:t> модуляция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GFSK (</a:t>
            </a:r>
            <a:r>
              <a:rPr lang="en-US" dirty="0" smtClean="0"/>
              <a:t>Gaussian Frequency Shift </a:t>
            </a:r>
            <a:r>
              <a:rPr lang="en-US" dirty="0" smtClean="0"/>
              <a:t>Keying) – </a:t>
            </a:r>
            <a:r>
              <a:rPr lang="ru-RU" dirty="0" smtClean="0"/>
              <a:t>это вид частотной манипуляции (модуляции), при которой используется фильтр Гаусса для сглаживания частотных перестроек при изменении значения информационного символа. </a:t>
            </a:r>
            <a:endParaRPr lang="ru-RU" dirty="0" smtClean="0"/>
          </a:p>
          <a:p>
            <a:r>
              <a:rPr lang="ru-RU" dirty="0" smtClean="0"/>
              <a:t>Это </a:t>
            </a:r>
            <a:r>
              <a:rPr lang="ru-RU" dirty="0" smtClean="0"/>
              <a:t>позволяет уменьшить ширину спектра сигнала и повысить спектральную эффективность по сравнению с традиционной частотной манипуляцией (FSK).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Практическая реализация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 smtClean="0"/>
              <a:t>Для передачи сигнала электрогитары через радио модуль, требуется подать его на вход АЦП микроконтроллера. Предварительно сигнал требуется усилить и поднять среднее значение колебаний до половины рабочего напряжения микроконтроллера.</a:t>
            </a:r>
          </a:p>
          <a:p>
            <a:r>
              <a:rPr lang="ru-RU" dirty="0" smtClean="0"/>
              <a:t>Для этого была реализована схема усилителя и виртуальной земли на сдвоенном операционном усилителе TLV2372IDR.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Аппаратная часть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5" name="Содержимое 4" descr="Снимок экрана 2026-05-26 205628.png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1000" y="1428750"/>
            <a:ext cx="4419600" cy="2555875"/>
          </a:xfrm>
          <a:prstGeom prst="rect">
            <a:avLst/>
          </a:prstGeom>
        </p:spPr>
      </p:pic>
      <p:pic>
        <p:nvPicPr>
          <p:cNvPr id="6" name="Рисунок 5"/>
          <p:cNvPicPr/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00599" y="1331020"/>
            <a:ext cx="3962401" cy="2688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609600" y="4248150"/>
            <a:ext cx="275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Схема виртуальной земли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5334000" y="4248150"/>
            <a:ext cx="2857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Схема </a:t>
            </a:r>
            <a:r>
              <a:rPr lang="ru-RU" dirty="0" smtClean="0"/>
              <a:t>инвертирующего ОУ.</a:t>
            </a:r>
            <a:endParaRPr lang="ru-RU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Аппаратная часть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Также исходя из теоремы Котельникова, следует ограничить спектр входного сигнала. </a:t>
            </a:r>
          </a:p>
          <a:p>
            <a:r>
              <a:rPr lang="ru-RU" dirty="0" smtClean="0"/>
              <a:t>Для этого была реализована схема фильтра нижних частот Чебышёва 3-го порядка.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Аппаратная часть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5" name="Содержимое 4"/>
          <p:cNvPicPr>
            <a:picLocks noGrp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445416" y="1200150"/>
            <a:ext cx="6326984" cy="28738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2362200" y="4171950"/>
            <a:ext cx="489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ФНЧ Чебышёва 3-го порядка на частоте 15 </a:t>
            </a:r>
            <a:r>
              <a:rPr lang="ru-RU" dirty="0" smtClean="0"/>
              <a:t>кГц</a:t>
            </a:r>
            <a:endParaRPr lang="ru-RU" dirty="0" smtClean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Аппаратная часть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Передача данных между микроконтроллером и радио модулем происходит по интерфейсу </a:t>
            </a:r>
            <a:r>
              <a:rPr lang="en-US" dirty="0" smtClean="0"/>
              <a:t>SPI.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Аппаратная часть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1026" name="Picture 2" descr="C:\Users\Данил\Desktop\ДИПЛОМ 2026\Без имени.png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344977" y="1047750"/>
            <a:ext cx="6454046" cy="3394075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2743200" y="4476750"/>
            <a:ext cx="29966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Итоговая схема передатчика</a:t>
            </a:r>
            <a:endParaRPr lang="ru-R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Аппаратная часть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smtClean="0"/>
              <a:t>Поскольку микроконтроллер </a:t>
            </a:r>
            <a:r>
              <a:rPr lang="en-US" dirty="0" smtClean="0"/>
              <a:t>STM</a:t>
            </a:r>
            <a:r>
              <a:rPr lang="ru-RU" dirty="0" smtClean="0"/>
              <a:t>32</a:t>
            </a:r>
            <a:r>
              <a:rPr lang="en-US" dirty="0" smtClean="0"/>
              <a:t>F</a:t>
            </a:r>
            <a:r>
              <a:rPr lang="ru-RU" dirty="0" smtClean="0"/>
              <a:t>103</a:t>
            </a:r>
            <a:r>
              <a:rPr lang="en-US" dirty="0" smtClean="0"/>
              <a:t>C</a:t>
            </a:r>
            <a:r>
              <a:rPr lang="ru-RU" dirty="0" smtClean="0"/>
              <a:t>8</a:t>
            </a:r>
            <a:r>
              <a:rPr lang="en-US" dirty="0" smtClean="0"/>
              <a:t>T</a:t>
            </a:r>
            <a:r>
              <a:rPr lang="ru-RU" dirty="0" smtClean="0"/>
              <a:t>6 не имеет встроенного цифро-аналогового преобразователя, принимаемый цифровой сигнал будем обрабатывать в виде </a:t>
            </a:r>
            <a:r>
              <a:rPr lang="ru-RU" dirty="0" err="1" smtClean="0"/>
              <a:t>ШИМ-сигнала</a:t>
            </a:r>
            <a:r>
              <a:rPr lang="ru-RU" dirty="0" smtClean="0"/>
              <a:t> с частотой ~47 кГц. Для этого следует использовать ФНЧ с частотой среза 7,2 кГц, чтобы подавить постоянную составляющую </a:t>
            </a:r>
            <a:r>
              <a:rPr lang="ru-RU" dirty="0" err="1" smtClean="0"/>
              <a:t>ШИМ-сигнала</a:t>
            </a:r>
            <a:r>
              <a:rPr lang="ru-RU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Аппаратная часть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5" name="Содержимое 4"/>
          <p:cNvPicPr>
            <a:picLocks noGrp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572972" y="1200150"/>
            <a:ext cx="5970828" cy="25397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2819400" y="3943350"/>
            <a:ext cx="3619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ФНЧ на выходе микроконтроллера</a:t>
            </a:r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Аппаратная часть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Выходной сигнал необходимо ослабить и снизить среднее значение колебаний до 0 В, чтобы в последующей аппаратуре избежать искажений сигнала за счёт </a:t>
            </a:r>
            <a:r>
              <a:rPr lang="ru-RU" dirty="0" err="1" smtClean="0"/>
              <a:t>переусиления</a:t>
            </a:r>
            <a:r>
              <a:rPr lang="ru-RU" dirty="0" smtClean="0"/>
              <a:t>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Аппаратная часть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2518385" y="1200150"/>
            <a:ext cx="4111015" cy="2958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2560876" y="4324350"/>
            <a:ext cx="4144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Схема ослабления и виртуальной земли</a:t>
            </a:r>
            <a:endParaRPr lang="ru-RU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Аппаратная часть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3074" name="Picture 2" descr="C:\Users\Данил\Desktop\ДИПЛОМ 2026\Без имени1.png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828800" y="1200150"/>
            <a:ext cx="5486400" cy="2637379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2667000" y="3943350"/>
            <a:ext cx="364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Итоговая схема приёмной системы</a:t>
            </a:r>
            <a:endParaRPr lang="ru-RU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Программная часть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Написание программного кода осуществлялось в среде разработки </a:t>
            </a:r>
            <a:r>
              <a:rPr lang="en-US" dirty="0" err="1" smtClean="0"/>
              <a:t>ArduinoIDE</a:t>
            </a:r>
            <a:r>
              <a:rPr lang="en-US" dirty="0" smtClean="0"/>
              <a:t> </a:t>
            </a:r>
            <a:r>
              <a:rPr lang="ru-RU" dirty="0" smtClean="0"/>
              <a:t>с использованием библиотек </a:t>
            </a:r>
            <a:r>
              <a:rPr lang="en-US" dirty="0" err="1" smtClean="0"/>
              <a:t>SPI.h</a:t>
            </a:r>
            <a:r>
              <a:rPr lang="ru-RU" dirty="0" smtClean="0"/>
              <a:t> и </a:t>
            </a:r>
            <a:r>
              <a:rPr lang="en-US" dirty="0" smtClean="0"/>
              <a:t>RF24.h</a:t>
            </a:r>
            <a:r>
              <a:rPr lang="ru-RU" dirty="0" smtClean="0"/>
              <a:t> для работы с радио модулем по интерфейсу </a:t>
            </a:r>
            <a:r>
              <a:rPr lang="en-US" dirty="0" smtClean="0"/>
              <a:t>SPI</a:t>
            </a:r>
            <a:r>
              <a:rPr lang="ru-RU" dirty="0" smtClean="0"/>
              <a:t>, а также библиотеки с ресурса </a:t>
            </a:r>
            <a:r>
              <a:rPr lang="en-US" dirty="0" smtClean="0"/>
              <a:t>STM32duino</a:t>
            </a:r>
            <a:r>
              <a:rPr lang="ru-RU" dirty="0" smtClean="0"/>
              <a:t> для работы с микроконтроллерами </a:t>
            </a:r>
            <a:r>
              <a:rPr lang="en-US" dirty="0" smtClean="0"/>
              <a:t>STM32.</a:t>
            </a:r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Заключение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В ходе выполнения ВКР на данный момент работа была выполнена частично. Требуется отладка печатных плат и загрузка программного кода в микроконтроллеры.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8100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456</Words>
  <PresentationFormat>Экран (16:9)</PresentationFormat>
  <Paragraphs>71</Paragraphs>
  <Slides>17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18" baseType="lpstr">
      <vt:lpstr>Office Theme</vt:lpstr>
      <vt:lpstr>Слайд 1</vt:lpstr>
      <vt:lpstr>Актуальность</vt:lpstr>
      <vt:lpstr>Цель и задачи</vt:lpstr>
      <vt:lpstr>GFSK модуляция</vt:lpstr>
      <vt:lpstr>Практическая реализация</vt:lpstr>
      <vt:lpstr>Аппаратная часть</vt:lpstr>
      <vt:lpstr>Аппаратная часть</vt:lpstr>
      <vt:lpstr>Аппаратная часть</vt:lpstr>
      <vt:lpstr>Аппаратная часть</vt:lpstr>
      <vt:lpstr>Аппаратная часть</vt:lpstr>
      <vt:lpstr>Аппаратная часть</vt:lpstr>
      <vt:lpstr>Аппаратная часть</vt:lpstr>
      <vt:lpstr>Аппаратная часть</vt:lpstr>
      <vt:lpstr>Аппаратная часть</vt:lpstr>
      <vt:lpstr>Аппаратная часть</vt:lpstr>
      <vt:lpstr>Программная часть</vt:lpstr>
      <vt:lpstr>Заключение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Данил</dc:creator>
  <cp:lastModifiedBy>Данил</cp:lastModifiedBy>
  <cp:revision>25</cp:revision>
  <dcterms:created xsi:type="dcterms:W3CDTF">2026-06-09T13:41:11Z</dcterms:created>
  <dcterms:modified xsi:type="dcterms:W3CDTF">2026-06-10T10:29:48Z</dcterms:modified>
</cp:coreProperties>
</file>