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59" r:id="rId2"/>
    <p:sldId id="257" r:id="rId3"/>
    <p:sldId id="260" r:id="rId4"/>
    <p:sldId id="261" r:id="rId5"/>
    <p:sldId id="275" r:id="rId6"/>
    <p:sldId id="262" r:id="rId7"/>
    <p:sldId id="263" r:id="rId8"/>
    <p:sldId id="264" r:id="rId9"/>
    <p:sldId id="265" r:id="rId10"/>
    <p:sldId id="276" r:id="rId11"/>
    <p:sldId id="277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5143500" type="screen16x9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25" d="100"/>
          <a:sy n="125" d="100"/>
        </p:scale>
        <p:origin x="-1224" y="-42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&#1044;&#1072;&#1085;&#1080;&#1083;\Desktop\&#1044;&#1080;&#1087;&#1083;&#1086;&#1084;%202026\&#1051;&#1080;&#1089;&#1090;%20Microsoft%20Office%20Excel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ru-RU"/>
  <c:chart>
    <c:plotArea>
      <c:layout/>
      <c:scatterChart>
        <c:scatterStyle val="smoothMarker"/>
        <c:ser>
          <c:idx val="0"/>
          <c:order val="0"/>
          <c:xVal>
            <c:numRef>
              <c:f>Лист1!$A$1:$A$25</c:f>
              <c:numCache>
                <c:formatCode>General</c:formatCod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numCache>
            </c:numRef>
          </c:xVal>
          <c:yVal>
            <c:numRef>
              <c:f>Лист1!$B$1:$B$25</c:f>
              <c:numCache>
                <c:formatCode>General</c:formatCode>
                <c:ptCount val="25"/>
                <c:pt idx="0">
                  <c:v>2.78</c:v>
                </c:pt>
                <c:pt idx="1">
                  <c:v>2.7</c:v>
                </c:pt>
                <c:pt idx="2">
                  <c:v>2.6</c:v>
                </c:pt>
                <c:pt idx="3">
                  <c:v>2.44</c:v>
                </c:pt>
                <c:pt idx="4">
                  <c:v>2.2799999999999998</c:v>
                </c:pt>
                <c:pt idx="5">
                  <c:v>2.1</c:v>
                </c:pt>
                <c:pt idx="6">
                  <c:v>1.9</c:v>
                </c:pt>
                <c:pt idx="7">
                  <c:v>1.72</c:v>
                </c:pt>
                <c:pt idx="8">
                  <c:v>1.54</c:v>
                </c:pt>
                <c:pt idx="9">
                  <c:v>1.36</c:v>
                </c:pt>
                <c:pt idx="10">
                  <c:v>1.2</c:v>
                </c:pt>
                <c:pt idx="11">
                  <c:v>1.06</c:v>
                </c:pt>
                <c:pt idx="12">
                  <c:v>0.94</c:v>
                </c:pt>
                <c:pt idx="13">
                  <c:v>0.82</c:v>
                </c:pt>
                <c:pt idx="14">
                  <c:v>0.72</c:v>
                </c:pt>
                <c:pt idx="15">
                  <c:v>0.62</c:v>
                </c:pt>
                <c:pt idx="16">
                  <c:v>0.55000000000000004</c:v>
                </c:pt>
                <c:pt idx="17">
                  <c:v>0.48</c:v>
                </c:pt>
                <c:pt idx="18">
                  <c:v>0.42</c:v>
                </c:pt>
                <c:pt idx="19">
                  <c:v>0.38</c:v>
                </c:pt>
                <c:pt idx="20">
                  <c:v>0.34</c:v>
                </c:pt>
                <c:pt idx="21">
                  <c:v>0.3</c:v>
                </c:pt>
                <c:pt idx="22">
                  <c:v>0.26</c:v>
                </c:pt>
                <c:pt idx="23">
                  <c:v>0.22</c:v>
                </c:pt>
                <c:pt idx="24">
                  <c:v>0.2</c:v>
                </c:pt>
              </c:numCache>
            </c:numRef>
          </c:yVal>
          <c:smooth val="1"/>
        </c:ser>
        <c:axId val="104635392"/>
        <c:axId val="115413760"/>
      </c:scatterChart>
      <c:valAx>
        <c:axId val="104635392"/>
        <c:scaling>
          <c:orientation val="minMax"/>
        </c:scaling>
        <c:axPos val="b"/>
        <c:majorGridlines/>
        <c:minorGridlines/>
        <c:title>
          <c:tx>
            <c:rich>
              <a:bodyPr/>
              <a:lstStyle/>
              <a:p>
                <a:pPr>
                  <a:defRPr/>
                </a:pPr>
                <a:r>
                  <a:rPr lang="ru-RU"/>
                  <a:t>Частота, кГц</a:t>
                </a:r>
              </a:p>
            </c:rich>
          </c:tx>
          <c:layout/>
        </c:title>
        <c:numFmt formatCode="General" sourceLinked="1"/>
        <c:tickLblPos val="nextTo"/>
        <c:crossAx val="115413760"/>
        <c:crosses val="autoZero"/>
        <c:crossBetween val="midCat"/>
      </c:valAx>
      <c:valAx>
        <c:axId val="115413760"/>
        <c:scaling>
          <c:orientation val="minMax"/>
        </c:scaling>
        <c:axPos val="l"/>
        <c:majorGridlines/>
        <c:minorGridlines/>
        <c:title>
          <c:tx>
            <c:rich>
              <a:bodyPr/>
              <a:lstStyle/>
              <a:p>
                <a:pPr>
                  <a:defRPr/>
                </a:pPr>
                <a:r>
                  <a:rPr lang="ru-RU"/>
                  <a:t>Амплитуда, В</a:t>
                </a:r>
              </a:p>
            </c:rich>
          </c:tx>
          <c:layout/>
        </c:title>
        <c:numFmt formatCode="General" sourceLinked="1"/>
        <c:tickLblPos val="nextTo"/>
        <c:crossAx val="104635392"/>
        <c:crosses val="autoZero"/>
        <c:crossBetween val="midCat"/>
      </c:valAx>
    </c:plotArea>
    <c:plotVisOnly val="1"/>
  </c:chart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7D7AB4-4A43-46F4-A7FC-6171EB4BF005}" type="datetimeFigureOut">
              <a:rPr lang="ru-RU" smtClean="0"/>
              <a:pPr/>
              <a:t>18.06.2026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105D3B-A9B2-463B-B1C2-D2E22EE7907E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0B996-EBC6-4482-81E4-0AAE73940B74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72C1A-5886-4C2D-92C5-483BF3D786AD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04728-630F-4D71-B044-211B549082D7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4F268-C422-45A6-9600-0F8D70D808BA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8725A-271E-4D5A-A859-27C05D6C0200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8E90B-6A24-4594-8927-E4FF55F26476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3B1E7-899F-4C8B-956C-B5DB593DE659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9C811-41B1-4EA5-BF77-68D869C00835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BD7EB-0745-47D8-BE59-02D92764FF2D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F14E4-1533-485A-AAF3-8D8176B18AB9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add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35334-3BA5-4CE1-962C-A151675F0045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78742-5338-42D0-BF12-07693AC36925}" type="datetime1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latinLnBrk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latinLnBrk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latinLnBrk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latinLnBrk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latinLnBrk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latinLnBrk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5DDC01C-B001-6673-0C5C-13278F22739D}"/>
              </a:ext>
            </a:extLst>
          </p:cNvPr>
          <p:cNvSpPr txBox="1"/>
          <p:nvPr/>
        </p:nvSpPr>
        <p:spPr>
          <a:xfrm>
            <a:off x="2286000" y="133525"/>
            <a:ext cx="4572000" cy="1977464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МИНОБРНАУКИ РОССИИ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автономное образовательное учреждение высшего образования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«Южный федеральный университет»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Физический факультет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прикладной электродинамики и компьютерного моделирования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xmlns="" id="{BCADD4A3-953B-218C-D041-2ADACEFBC7B5}"/>
              </a:ext>
            </a:extLst>
          </p:cNvPr>
          <p:cNvSpPr txBox="1">
            <a:spLocks/>
          </p:cNvSpPr>
          <p:nvPr/>
        </p:nvSpPr>
        <p:spPr>
          <a:xfrm>
            <a:off x="3782961" y="3235207"/>
            <a:ext cx="5198807" cy="124182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4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курса бакалавриата </a:t>
            </a:r>
          </a:p>
          <a:p>
            <a:pPr algn="r"/>
            <a:r>
              <a:rPr lang="ru-RU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Татаров</a:t>
            </a:r>
            <a:r>
              <a:rPr lang="ru-RU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Д. С.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sz="1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 от профильной организации</a:t>
            </a:r>
            <a:endParaRPr lang="en-US" sz="1200" dirty="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Старший научный сотрудник </a:t>
            </a:r>
            <a:r>
              <a:rPr lang="ru-RU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Хачкинаев</a:t>
            </a:r>
            <a:r>
              <a:rPr lang="ru-RU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О. В. 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14590EFD-E088-0228-3064-767C72979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79" y="169629"/>
            <a:ext cx="1472312" cy="134428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4B792C90-B297-44D9-4E7C-6225A758F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810" y="238216"/>
            <a:ext cx="1207112" cy="12071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CE3B7DD-8A73-1FC4-D0D2-CCA5DEB2F3DB}"/>
              </a:ext>
            </a:extLst>
          </p:cNvPr>
          <p:cNvSpPr txBox="1"/>
          <p:nvPr/>
        </p:nvSpPr>
        <p:spPr>
          <a:xfrm>
            <a:off x="1820003" y="2070824"/>
            <a:ext cx="6053063" cy="715581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ru-RU" sz="2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Гитарная радиосистема</a:t>
            </a:r>
            <a:endParaRPr lang="ru-RU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</a:t>
            </a:r>
            <a:endParaRPr lang="ru-RU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491E8A82-8633-1639-4930-EC2418172FC0}"/>
              </a:ext>
            </a:extLst>
          </p:cNvPr>
          <p:cNvSpPr txBox="1"/>
          <p:nvPr/>
        </p:nvSpPr>
        <p:spPr>
          <a:xfrm>
            <a:off x="2286000" y="4659055"/>
            <a:ext cx="4572000" cy="438582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Ростов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-на-Дону </a:t>
            </a:r>
          </a:p>
          <a:p>
            <a:pPr algn="ctr"/>
            <a:r>
              <a:rPr lang="ru-RU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2026 г.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325755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defRPr/>
            </a:pPr>
            <a:r>
              <a:rPr lang="ru-RU" sz="1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 от структурного подразделения ЮФУ </a:t>
            </a:r>
            <a:endParaRPr lang="en-US" sz="1200" dirty="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defRPr/>
            </a:pPr>
            <a:r>
              <a:rPr lang="ru-RU" sz="1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профессор, </a:t>
            </a:r>
            <a:r>
              <a:rPr lang="ru-RU" sz="12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д.ф.-м.н</a:t>
            </a:r>
            <a:r>
              <a:rPr lang="ru-RU" sz="1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1200" dirty="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defRPr/>
            </a:pPr>
            <a:r>
              <a:rPr lang="ru-RU" sz="12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Мануилов</a:t>
            </a:r>
            <a:r>
              <a:rPr lang="ru-RU" sz="1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Михаил Борисович</a:t>
            </a:r>
            <a:endParaRPr lang="ru-RU" sz="12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31386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Актуальность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ru-RU" dirty="0" smtClean="0"/>
              <a:t>В современной индустрии профессионального звукового оборудования наблюдается устойчивая тенденция к отказу от кабельных соединений в пользу беспроводных радиосистем. Это обусловлено потребностью музыкантов в свободе передвижения на сцене и упрощением коммутации оборудования. Однако обеспечение надежной, высококачественной и с низкой задержкой передачи </a:t>
            </a:r>
            <a:r>
              <a:rPr lang="ru-RU" dirty="0" err="1" smtClean="0"/>
              <a:t>аудиосигнала</a:t>
            </a:r>
            <a:r>
              <a:rPr lang="ru-RU" dirty="0" smtClean="0"/>
              <a:t> в условиях реальной эксплуатации сопряжено с рядом сложных радиофизических и радиотехнических проблем.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Цель и задачи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ru-RU" sz="2000" b="1" dirty="0" smtClean="0"/>
              <a:t>Цель</a:t>
            </a:r>
            <a:r>
              <a:rPr lang="ru-RU" sz="2000" dirty="0" smtClean="0"/>
              <a:t> – реализовать модель цифровой приёмо-передающей радио системы для передачи аудио-сигнала.</a:t>
            </a:r>
          </a:p>
          <a:p>
            <a:pPr algn="just">
              <a:buNone/>
            </a:pPr>
            <a:r>
              <a:rPr lang="ru-RU" sz="2000" dirty="0" smtClean="0"/>
              <a:t>	Задачи: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2000" dirty="0" smtClean="0"/>
              <a:t>Изучить методы модуляции аналоговых и цифровых сигналов.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2000" dirty="0" smtClean="0"/>
              <a:t>Спроектировать схему приёмного и передающего устройств и сделать их печатные платы.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2000" dirty="0" smtClean="0"/>
              <a:t>Написать программный код с реализацией передачи сигнала через модуль </a:t>
            </a:r>
            <a:r>
              <a:rPr lang="en-US" sz="2000" dirty="0" smtClean="0"/>
              <a:t>nRF24L01.</a:t>
            </a:r>
            <a:endParaRPr lang="ru-RU" sz="2000" dirty="0" smtClean="0"/>
          </a:p>
          <a:p>
            <a:pPr marL="514350" indent="-514350" algn="just"/>
            <a:r>
              <a:rPr lang="ru-RU" sz="2000" dirty="0" smtClean="0"/>
              <a:t>Объекты работы: микроконтроллер </a:t>
            </a:r>
            <a:r>
              <a:rPr lang="en-US" sz="2000" dirty="0" smtClean="0"/>
              <a:t>STM32F103C8T6 </a:t>
            </a:r>
            <a:r>
              <a:rPr lang="ru-RU" sz="2000" dirty="0" smtClean="0"/>
              <a:t>на базе отладочной платы </a:t>
            </a:r>
            <a:r>
              <a:rPr lang="en-US" sz="2000" dirty="0" smtClean="0"/>
              <a:t>Blue Pill, </a:t>
            </a:r>
            <a:r>
              <a:rPr lang="ru-RU" sz="2000" dirty="0" smtClean="0"/>
              <a:t>радио</a:t>
            </a:r>
            <a:r>
              <a:rPr lang="en-US" sz="2000" dirty="0" smtClean="0"/>
              <a:t> </a:t>
            </a:r>
            <a:r>
              <a:rPr lang="ru-RU" sz="2000" dirty="0" smtClean="0"/>
              <a:t>модуль </a:t>
            </a:r>
            <a:r>
              <a:rPr lang="en-US" sz="2000" dirty="0" smtClean="0"/>
              <a:t>nRF24L01</a:t>
            </a:r>
            <a:r>
              <a:rPr lang="ru-RU" sz="2000" dirty="0" smtClean="0"/>
              <a:t>.</a:t>
            </a:r>
          </a:p>
          <a:p>
            <a:pPr marL="514350" indent="-514350" algn="just"/>
            <a:r>
              <a:rPr lang="ru-RU" sz="2000" dirty="0" smtClean="0"/>
              <a:t>Предмет работы: изучение передачи и приёма цифрового сигнала с частотной модуляцией </a:t>
            </a:r>
            <a:r>
              <a:rPr lang="en-US" sz="2000" dirty="0" smtClean="0"/>
              <a:t>GFSK.</a:t>
            </a:r>
            <a:endParaRPr lang="ru-RU" sz="200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GFSK</a:t>
            </a:r>
            <a:r>
              <a:rPr lang="ru-RU" dirty="0" smtClean="0"/>
              <a:t> модуляция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dirty="0" smtClean="0"/>
              <a:t>GFSK (Gaussian Frequency Shift Keying) – </a:t>
            </a:r>
            <a:r>
              <a:rPr lang="ru-RU" dirty="0" smtClean="0"/>
              <a:t>это вид частотной манипуляции (модуляции), при которой используется фильтр Гаусса для сглаживания частотных перестроек при изменении значения информационного символа. </a:t>
            </a:r>
          </a:p>
          <a:p>
            <a:pPr algn="just"/>
            <a:r>
              <a:rPr lang="ru-RU" dirty="0" smtClean="0"/>
              <a:t>Это позволяет уменьшить ширину спектра сигнала и повысить спектральную эффективность по сравнению с традиционной частотной манипуляцией (FSK).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GFSK</a:t>
            </a:r>
            <a:r>
              <a:rPr lang="ru-RU" dirty="0" smtClean="0"/>
              <a:t> модуляция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95600" y="1181002"/>
            <a:ext cx="3276600" cy="2990948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2449563" y="4248150"/>
            <a:ext cx="4256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Частотная характеристика фильтра Гаусса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Практическая реализация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ru-RU" dirty="0" smtClean="0"/>
              <a:t>Для передачи сигнала электрогитары через радио модуль, требуется подать его на вход АЦП микроконтроллера. Предварительно сигнал требуется усилить и поднять среднее значение колебаний до половины рабочего напряжения микроконтроллера.</a:t>
            </a:r>
          </a:p>
          <a:p>
            <a:pPr algn="just"/>
            <a:r>
              <a:rPr lang="ru-RU" dirty="0" smtClean="0"/>
              <a:t>Для этого была реализована схема усилителя и виртуальной земли на сдвоенном операционном усилителе TLV2372IDR.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Аппаратная часть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Содержимое 4" descr="Снимок экрана 2026-05-26 205628.png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1463675"/>
            <a:ext cx="4419600" cy="2555875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00599" y="1331020"/>
            <a:ext cx="3962401" cy="2688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899986" y="4248150"/>
            <a:ext cx="275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Схема виртуальной земли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5334000" y="4248150"/>
            <a:ext cx="2857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Схема инвертирующего ОУ.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Аппаратная часть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 smtClean="0"/>
              <a:t>Также исходя из теоремы Котельникова, следует ограничить спектр входного сигнала. </a:t>
            </a:r>
          </a:p>
          <a:p>
            <a:pPr algn="just"/>
            <a:r>
              <a:rPr lang="ru-RU" dirty="0" smtClean="0"/>
              <a:t>Для этого была реализована схема фильтра нижних частот </a:t>
            </a:r>
            <a:r>
              <a:rPr lang="ru-RU" dirty="0" smtClean="0"/>
              <a:t>по схеме </a:t>
            </a:r>
            <a:r>
              <a:rPr lang="ru-RU" dirty="0" err="1" smtClean="0"/>
              <a:t>Саллена-Ки</a:t>
            </a:r>
            <a:r>
              <a:rPr lang="ru-RU" dirty="0" smtClean="0"/>
              <a:t> 4-го порядка с частотой среза 15 кГц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Аппаратная часть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371600" y="4171950"/>
            <a:ext cx="6304803" cy="369332"/>
          </a:xfrm>
          <a:prstGeom prst="rect">
            <a:avLst/>
          </a:prstGeom>
          <a:noFill/>
        </p:spPr>
        <p:txBody>
          <a:bodyPr wrap="none" rtlCol="0" anchor="b" anchorCtr="1">
            <a:spAutoFit/>
          </a:bodyPr>
          <a:lstStyle/>
          <a:p>
            <a:pPr algn="ctr"/>
            <a:r>
              <a:rPr lang="ru-RU" dirty="0" smtClean="0"/>
              <a:t>ФНЧ </a:t>
            </a:r>
            <a:r>
              <a:rPr lang="ru-RU" dirty="0" smtClean="0"/>
              <a:t>по схеме </a:t>
            </a:r>
            <a:r>
              <a:rPr lang="ru-RU" dirty="0" err="1" smtClean="0"/>
              <a:t>Саллена-Ки</a:t>
            </a:r>
            <a:r>
              <a:rPr lang="ru-RU" dirty="0" smtClean="0"/>
              <a:t> 4-го </a:t>
            </a:r>
            <a:r>
              <a:rPr lang="ru-RU" dirty="0" smtClean="0"/>
              <a:t>порядка </a:t>
            </a:r>
            <a:r>
              <a:rPr lang="ru-RU" dirty="0" smtClean="0"/>
              <a:t>с частотой среза 15 </a:t>
            </a:r>
            <a:r>
              <a:rPr lang="ru-RU" dirty="0" smtClean="0"/>
              <a:t>кГц</a:t>
            </a:r>
          </a:p>
        </p:txBody>
      </p:sp>
      <p:pic>
        <p:nvPicPr>
          <p:cNvPr id="8" name="Рисунок 7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1074356"/>
            <a:ext cx="4667250" cy="2994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Аппаратная часть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5775" y="1073252"/>
            <a:ext cx="7147625" cy="2870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133600" y="4248150"/>
            <a:ext cx="4864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Схема усилителя</a:t>
            </a:r>
            <a:r>
              <a:rPr lang="en-US" dirty="0" smtClean="0"/>
              <a:t> </a:t>
            </a:r>
            <a:r>
              <a:rPr lang="ru-RU" dirty="0" smtClean="0"/>
              <a:t>и ФНЧ в программе </a:t>
            </a:r>
            <a:r>
              <a:rPr lang="en-US" dirty="0" err="1" smtClean="0"/>
              <a:t>Simule</a:t>
            </a:r>
            <a:r>
              <a:rPr lang="en-US" dirty="0" smtClean="0"/>
              <a:t> IDE</a:t>
            </a:r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Аппаратная часть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5" name="Содержимое 4"/>
          <p:cNvGraphicFramePr>
            <a:graphicFrameLocks noGrp="1"/>
          </p:cNvGraphicFramePr>
          <p:nvPr>
            <p:ph idx="1"/>
          </p:nvPr>
        </p:nvGraphicFramePr>
        <p:xfrm>
          <a:off x="838200" y="1047750"/>
          <a:ext cx="7391400" cy="3394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91000" y="4400550"/>
            <a:ext cx="1412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АЧХ фильтра</a:t>
            </a:r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Аппаратная часть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Передача данных между микроконтроллером и радио модулем происходит по интерфейсу </a:t>
            </a:r>
            <a:r>
              <a:rPr lang="en-US" dirty="0" smtClean="0"/>
              <a:t>SPI.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Аппаратная часть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590800" y="4476750"/>
            <a:ext cx="3917804" cy="369332"/>
          </a:xfrm>
          <a:prstGeom prst="rect">
            <a:avLst/>
          </a:prstGeom>
          <a:noFill/>
        </p:spPr>
        <p:txBody>
          <a:bodyPr wrap="none" rtlCol="0" anchor="b" anchorCtr="1">
            <a:spAutoFit/>
          </a:bodyPr>
          <a:lstStyle/>
          <a:p>
            <a:pPr algn="ctr"/>
            <a:r>
              <a:rPr lang="ru-RU" dirty="0" smtClean="0"/>
              <a:t>Итоговая схема </a:t>
            </a:r>
            <a:r>
              <a:rPr lang="ru-RU" dirty="0" smtClean="0"/>
              <a:t>передающей стороны</a:t>
            </a:r>
            <a:endParaRPr lang="ru-RU" dirty="0"/>
          </a:p>
        </p:txBody>
      </p:sp>
      <p:pic>
        <p:nvPicPr>
          <p:cNvPr id="8" name="Рисунок 7" descr="Без имени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1655298" y="1047750"/>
            <a:ext cx="6193302" cy="34637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Аппаратная часть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ru-RU" dirty="0" smtClean="0"/>
              <a:t>Поскольку микроконтроллер </a:t>
            </a:r>
            <a:r>
              <a:rPr lang="en-US" dirty="0" smtClean="0"/>
              <a:t>STM</a:t>
            </a:r>
            <a:r>
              <a:rPr lang="ru-RU" dirty="0" smtClean="0"/>
              <a:t>32</a:t>
            </a:r>
            <a:r>
              <a:rPr lang="en-US" dirty="0" smtClean="0"/>
              <a:t>F</a:t>
            </a:r>
            <a:r>
              <a:rPr lang="ru-RU" dirty="0" smtClean="0"/>
              <a:t>103</a:t>
            </a:r>
            <a:r>
              <a:rPr lang="en-US" dirty="0" smtClean="0"/>
              <a:t>C</a:t>
            </a:r>
            <a:r>
              <a:rPr lang="ru-RU" dirty="0" smtClean="0"/>
              <a:t>8</a:t>
            </a:r>
            <a:r>
              <a:rPr lang="en-US" dirty="0" smtClean="0"/>
              <a:t>T</a:t>
            </a:r>
            <a:r>
              <a:rPr lang="ru-RU" dirty="0" smtClean="0"/>
              <a:t>6 не имеет встроенного цифро-аналогового преобразователя, принимаемый цифровой сигнал будем обрабатывать в виде </a:t>
            </a:r>
            <a:r>
              <a:rPr lang="ru-RU" dirty="0" err="1" smtClean="0"/>
              <a:t>ШИМ-сигнала</a:t>
            </a:r>
            <a:r>
              <a:rPr lang="ru-RU" dirty="0" smtClean="0"/>
              <a:t> с частотой ~47 кГц. Для этого следует использовать ФНЧ с частотой среза 7,2 кГц, чтобы </a:t>
            </a:r>
            <a:r>
              <a:rPr lang="ru-RU" dirty="0" smtClean="0"/>
              <a:t>сгладить высокую частоту </a:t>
            </a:r>
            <a:r>
              <a:rPr lang="ru-RU" dirty="0" err="1" smtClean="0"/>
              <a:t>ШИМ-сигнала</a:t>
            </a:r>
            <a:r>
              <a:rPr lang="ru-RU" dirty="0" smtClean="0"/>
              <a:t>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Аппаратная часть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5" name="Содержимое 4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72972" y="1200150"/>
            <a:ext cx="5970828" cy="2539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676400" y="3943350"/>
            <a:ext cx="5827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ФНЧ с повторителем на ОУ </a:t>
            </a:r>
            <a:r>
              <a:rPr lang="ru-RU" dirty="0" smtClean="0"/>
              <a:t>на выходе микроконтроллера</a:t>
            </a:r>
            <a:endParaRPr lang="ru-RU" dirty="0"/>
          </a:p>
        </p:txBody>
      </p:sp>
      <p:pic>
        <p:nvPicPr>
          <p:cNvPr id="7" name="Рисунок 6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01787" y="1384124"/>
            <a:ext cx="5940425" cy="2375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Аппаратная часть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 smtClean="0"/>
              <a:t>Выходной сигнал необходимо ослабить и снизить среднее значение колебаний до 0 В, чтобы в последующей аппаратуре избежать искажений сигнала за счёт </a:t>
            </a:r>
            <a:r>
              <a:rPr lang="ru-RU" dirty="0" err="1" smtClean="0"/>
              <a:t>переусиления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Аппаратная часть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09800" y="4171950"/>
            <a:ext cx="47427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smtClean="0"/>
              <a:t>Схема </a:t>
            </a:r>
            <a:r>
              <a:rPr lang="ru-RU" dirty="0" smtClean="0"/>
              <a:t>делителя напряжения с конденсатором</a:t>
            </a:r>
          </a:p>
          <a:p>
            <a:pPr algn="ctr"/>
            <a:r>
              <a:rPr lang="ru-RU" dirty="0" smtClean="0"/>
              <a:t> для отсечения постоянной составляющей</a:t>
            </a:r>
            <a:endParaRPr lang="ru-RU" dirty="0"/>
          </a:p>
        </p:txBody>
      </p:sp>
      <p:pic>
        <p:nvPicPr>
          <p:cNvPr id="8" name="Рисунок 7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1237" y="966787"/>
            <a:ext cx="4581525" cy="320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Аппаратная часть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67000" y="3943350"/>
            <a:ext cx="363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Итоговая схема приёмной </a:t>
            </a:r>
            <a:r>
              <a:rPr lang="ru-RU" dirty="0" smtClean="0"/>
              <a:t>стороны</a:t>
            </a:r>
            <a:endParaRPr lang="ru-RU" dirty="0"/>
          </a:p>
        </p:txBody>
      </p:sp>
      <p:pic>
        <p:nvPicPr>
          <p:cNvPr id="8" name="Рисунок 7" descr="Без имени2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1601787" y="1129030"/>
            <a:ext cx="5940425" cy="2885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Программная часть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ru-RU" dirty="0" smtClean="0"/>
              <a:t>Написание программного кода осуществлялось в среде разработки </a:t>
            </a:r>
            <a:r>
              <a:rPr lang="en-US" dirty="0" err="1" smtClean="0"/>
              <a:t>ArduinoIDE</a:t>
            </a:r>
            <a:r>
              <a:rPr lang="en-US" dirty="0" smtClean="0"/>
              <a:t> </a:t>
            </a:r>
            <a:r>
              <a:rPr lang="ru-RU" dirty="0" smtClean="0"/>
              <a:t>с использованием библиотек </a:t>
            </a:r>
            <a:r>
              <a:rPr lang="en-US" dirty="0" err="1" smtClean="0"/>
              <a:t>SPI.h</a:t>
            </a:r>
            <a:r>
              <a:rPr lang="ru-RU" dirty="0" smtClean="0"/>
              <a:t> и </a:t>
            </a:r>
            <a:r>
              <a:rPr lang="en-US" dirty="0" smtClean="0"/>
              <a:t>RF24.h</a:t>
            </a:r>
            <a:r>
              <a:rPr lang="ru-RU" dirty="0" smtClean="0"/>
              <a:t> для работы с радио модулем по интерфейсу </a:t>
            </a:r>
            <a:r>
              <a:rPr lang="en-US" dirty="0" smtClean="0"/>
              <a:t>SPI</a:t>
            </a:r>
            <a:r>
              <a:rPr lang="ru-RU" dirty="0" smtClean="0"/>
              <a:t>, а также библиотеки с ресурса </a:t>
            </a:r>
            <a:r>
              <a:rPr lang="en-US" dirty="0" smtClean="0"/>
              <a:t>STM32duino</a:t>
            </a:r>
            <a:r>
              <a:rPr lang="ru-RU" dirty="0" smtClean="0"/>
              <a:t> для работы с микроконтроллерами </a:t>
            </a:r>
            <a:r>
              <a:rPr lang="en-US" dirty="0" smtClean="0"/>
              <a:t>STM32.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ru-RU" dirty="0" smtClean="0"/>
              <a:t>Рассмотрев основные аспекты гитарной радиосистемы, а также различные методы аналоговой и цифровой передачи сигнала по радио каналу, можно сделать вывод, что цифровой метод передачи является наиболее оптимальным и простым в аппаратной реализации, однако имеет ряд проблем при разработке программной </a:t>
            </a:r>
            <a:r>
              <a:rPr lang="ru-RU" smtClean="0"/>
              <a:t>части</a:t>
            </a:r>
            <a:r>
              <a:rPr lang="ru-RU" smtClean="0"/>
              <a:t>.</a:t>
            </a:r>
            <a:endParaRPr lang="ru-RU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526</Words>
  <PresentationFormat>Экран (16:9)</PresentationFormat>
  <Paragraphs>83</Paragraphs>
  <Slides>20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1" baseType="lpstr">
      <vt:lpstr>Office Theme</vt:lpstr>
      <vt:lpstr>Слайд 1</vt:lpstr>
      <vt:lpstr>Актуальность</vt:lpstr>
      <vt:lpstr>Цель и задачи</vt:lpstr>
      <vt:lpstr>GFSK модуляция</vt:lpstr>
      <vt:lpstr>GFSK модуляция</vt:lpstr>
      <vt:lpstr>Практическая реализация</vt:lpstr>
      <vt:lpstr>Аппаратная часть</vt:lpstr>
      <vt:lpstr>Аппаратная часть</vt:lpstr>
      <vt:lpstr>Аппаратная часть</vt:lpstr>
      <vt:lpstr>Аппаратная часть</vt:lpstr>
      <vt:lpstr>Аппаратная часть</vt:lpstr>
      <vt:lpstr>Аппаратная часть</vt:lpstr>
      <vt:lpstr>Аппаратная часть</vt:lpstr>
      <vt:lpstr>Аппаратная часть</vt:lpstr>
      <vt:lpstr>Аппаратная часть</vt:lpstr>
      <vt:lpstr>Аппаратная часть</vt:lpstr>
      <vt:lpstr>Аппаратная часть</vt:lpstr>
      <vt:lpstr>Аппаратная часть</vt:lpstr>
      <vt:lpstr>Программная часть</vt:lpstr>
      <vt:lpstr>Заключение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Данил</dc:creator>
  <cp:lastModifiedBy>Данил</cp:lastModifiedBy>
  <cp:revision>43</cp:revision>
  <dcterms:created xsi:type="dcterms:W3CDTF">2026-06-09T13:41:11Z</dcterms:created>
  <dcterms:modified xsi:type="dcterms:W3CDTF">2026-06-18T16:44:03Z</dcterms:modified>
</cp:coreProperties>
</file>